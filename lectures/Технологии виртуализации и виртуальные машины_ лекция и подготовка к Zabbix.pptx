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59" y="-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60552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59347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ПРОГРАММА ПРОФПЕРЕПОДГОТОВКИ «ТЕХНОЛОГИИ DEVOPS»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2722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Inter"/>
              </a:rPr>
              <a:t>Технологии виртуализации и первичная настройка ВМ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22352"/>
            <a:ext cx="6762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Теоретическая база и подготовка виртуального окружения для развертывания системы мониторинга Zabbix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9862"/>
            <a:ext cx="3505200" cy="2114550"/>
          </a:xfrm>
          <a:prstGeom prst="roundRect">
            <a:avLst>
              <a:gd name="adj" fmla="val 72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09862"/>
            <a:ext cx="3505200" cy="2114550"/>
          </a:xfrm>
          <a:prstGeom prst="roundRect">
            <a:avLst>
              <a:gd name="adj" fmla="val 72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24162"/>
            <a:ext cx="3505200" cy="1885950"/>
          </a:xfrm>
          <a:prstGeom prst="roundRect">
            <a:avLst>
              <a:gd name="adj" fmla="val 808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323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4323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5753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План рассматриваемых вопросов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90912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Блок 1: Суть и подходы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33812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Архитектура Bare Metal, ГОСТ стандарты, уровни виртуализации и абстракция.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490912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Блок 2: Гипервизоры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833812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Сравнение систем Тип 1 и Тип 2, экосистемы Proxmox VE, KVM и VirtualBox.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605212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Блок 3: Подготовка ВМ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948112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Сетевые интерфейсы, дисковые пулы и подготовка стенда под Zabbix.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6975"/>
            <a:ext cx="5629275" cy="2524125"/>
          </a:xfrm>
          <a:prstGeom prst="roundRect">
            <a:avLst>
              <a:gd name="adj" fmla="val 4528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466975"/>
            <a:ext cx="57150" cy="2524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19875" y="3124200"/>
            <a:ext cx="4962525" cy="1209675"/>
          </a:xfrm>
          <a:prstGeom prst="roundRect">
            <a:avLst>
              <a:gd name="adj" fmla="val 944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433762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767137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300537"/>
            <a:ext cx="171450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Проблема классической архитектуры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2771775"/>
            <a:ext cx="5310663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Inter"/>
              </a:rPr>
              <a:t>Формула: 1 физический сервер = 1 ОС = 1 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419475"/>
            <a:ext cx="6203156" cy="2000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Inter"/>
              </a:rPr>
              <a:t>Простой процессорных мощностей до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752850"/>
            <a:ext cx="5057775" cy="4000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Inter"/>
              </a:rPr>
              <a:t>Высокие затраты на электроэнергию и охлаждение в ЦОД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4286250"/>
            <a:ext cx="5057775" cy="4000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Inter"/>
              </a:rPr>
              <a:t>Сложность переноса и восстановления при аппаратном сбое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62325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Решение современной виртуализации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38550"/>
            <a:ext cx="4581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5803D"/>
                </a:solidFill>
                <a:latin typeface="Inter"/>
              </a:rPr>
              <a:t>Консолидация нагрузок на общем пуле оборудования с динамическим распределением ядер CPU и 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10972800" cy="125730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05250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905250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Понятие виртуализации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733675"/>
            <a:ext cx="104394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369A1"/>
                </a:solidFill>
                <a:latin typeface="Inter"/>
              </a:rPr>
              <a:t>Виртуализация — технология создания изолированных программных сред на одном физическом хосте, обеспечивающая независимость процессов от аппаратной платформы.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43375"/>
            <a:ext cx="64258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Абстракция ресурсов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419600"/>
            <a:ext cx="4991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Разделение, объединение и гибкое перераспределение CPU, RAM и дисков.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4143375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Инкапсуляция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4419600"/>
            <a:ext cx="4991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ВМ представляет собой контейнер для ОС и приложений, скрывающий аппаратные сложности.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390" y="33287"/>
            <a:ext cx="4199610" cy="2574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3625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95775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333625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14700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295775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Терминология по ГОСТ Р 56938-2016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2412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Виртуализация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8130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Преобразование параметров запросов к ресурсам для независимости обработки информации от платформы.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05200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Виртуальная машина (ВМ)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62375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Виртуальная вычислительная система с виртуальными устройствами обработки, хранения и передачи данных.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862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Виртуализация ПО и сетей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74345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Изолированная среда для приложений (контейнер) и логическое объединение сетевых ресурсов.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508" y="3129668"/>
            <a:ext cx="4131152" cy="3110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265" y="86196"/>
            <a:ext cx="4033234" cy="2830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558084" y="718132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8084" y="3481387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8084" y="2080207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5709" y="4924424"/>
            <a:ext cx="53721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98" y="889582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59" y="3580661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98" y="2282474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98" y="5076153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759" y="150053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Преимущества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применения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технологии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298" y="889582"/>
            <a:ext cx="5030945" cy="207749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284C7"/>
                </a:solidFill>
                <a:latin typeface="Inter"/>
              </a:rPr>
              <a:t>Финансовые</a:t>
            </a:r>
            <a:r>
              <a:rPr sz="1350" b="1" i="0" u="none" dirty="0">
                <a:solidFill>
                  <a:srgbClr val="0284C7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0284C7"/>
                </a:solidFill>
                <a:latin typeface="Inter"/>
              </a:rPr>
              <a:t>ресурсы</a:t>
            </a:r>
            <a:endParaRPr sz="1350" b="1" i="0" u="none" dirty="0">
              <a:solidFill>
                <a:srgbClr val="0284C7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6209" y="1232482"/>
            <a:ext cx="4991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Минимальный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парк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физических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серверов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и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сокращение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штата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администраторов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759" y="3552086"/>
            <a:ext cx="5305425" cy="207749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284C7"/>
                </a:solidFill>
                <a:latin typeface="Inter"/>
              </a:rPr>
              <a:t>Безопасность</a:t>
            </a:r>
            <a:endParaRPr sz="1350" b="1" i="0" u="none" dirty="0">
              <a:solidFill>
                <a:srgbClr val="0284C7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6209" y="3885797"/>
            <a:ext cx="4991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Полная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изоляция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ВМ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друг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от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друга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исключает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пересечение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ПО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разных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сервисов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759" y="2246173"/>
            <a:ext cx="4933817" cy="207749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284C7"/>
                </a:solidFill>
                <a:latin typeface="Inter"/>
              </a:rPr>
              <a:t>Универсальность</a:t>
            </a:r>
            <a:endParaRPr sz="1350" b="1" i="0" u="none" dirty="0">
              <a:solidFill>
                <a:srgbClr val="0284C7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6209" y="2594557"/>
            <a:ext cx="4991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Удобный перенос ВМ на другое «железо» и быстрая настройка резервного копирования.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384" y="5055760"/>
            <a:ext cx="5743575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284C7"/>
                </a:solidFill>
                <a:latin typeface="Inter"/>
              </a:rPr>
              <a:t>Гибкость</a:t>
            </a:r>
            <a:endParaRPr sz="1350" b="1" i="0" u="none" dirty="0">
              <a:solidFill>
                <a:srgbClr val="0284C7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9298" y="5491162"/>
            <a:ext cx="4991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Динамическое изменение выделения CPU, RAM и диска «на лету» без остановки соседей.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9400"/>
            <a:ext cx="3505200" cy="1819275"/>
          </a:xfrm>
          <a:prstGeom prst="roundRect">
            <a:avLst>
              <a:gd name="adj" fmla="val 83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19400"/>
            <a:ext cx="3505200" cy="1819275"/>
          </a:xfrm>
          <a:prstGeom prst="roundRect">
            <a:avLst>
              <a:gd name="adj" fmla="val 83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505200" cy="1819275"/>
          </a:xfrm>
          <a:prstGeom prst="roundRect">
            <a:avLst>
              <a:gd name="adj" fmla="val 83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12420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24200"/>
            <a:ext cx="3048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124200"/>
            <a:ext cx="3048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Три ключевых направления виртуализации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956" y="365760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Аппаратная (серверная)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825" y="3971925"/>
            <a:ext cx="3714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Создание полноценных ВМ со своим виртуальным BIOS/UEFI и ядром ОС.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756" y="365760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На уровне ОС (Контейнеры)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8625" y="3971925"/>
            <a:ext cx="3714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Изоляция приложений без запуска отдельного ядра ОС (Docker, LXC).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556" y="365760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Данных и хранилищ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3971925"/>
            <a:ext cx="3714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Объединение HDD/SSD в пулы хранения (SAN, SDS) независимо от физики.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809875"/>
            <a:ext cx="5610225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30823"/>
            <a:ext cx="4981575" cy="1009650"/>
          </a:xfrm>
          <a:prstGeom prst="roundRect">
            <a:avLst>
              <a:gd name="adj" fmla="val 1132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687" y="3171825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Виртуализация ресурсов: Разделение (Partitioning)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17452"/>
            <a:ext cx="5076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Разделение аппаратных ресурсов компьютера (ЦП, памяти, дискового пространства и сетевых интерфейсов) на уровне ядра операционной системы.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3189" y="3838575"/>
            <a:ext cx="65281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Абстракция дисковой подсистемы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3803" y="4143375"/>
            <a:ext cx="6226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Виртуальные диски (qcow2, vmdk) как файлы на хост-системе.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30848"/>
            <a:ext cx="60132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Что происходит при создании ВМ: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78498"/>
            <a:ext cx="4676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369A1"/>
                </a:solidFill>
                <a:latin typeface="Inter"/>
              </a:rPr>
              <a:t>Гипервизор выделяет изолированные квоты ресурсов процессора и RAM, эмулируя физические шины устройств.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916"/>
            <a:ext cx="5486400" cy="3299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648" y="0"/>
            <a:ext cx="5872577" cy="439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" y="1864544"/>
            <a:ext cx="6181859" cy="4627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43300"/>
            <a:ext cx="53721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543300"/>
            <a:ext cx="53721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Виртуализация систем хранения (SAN)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00350"/>
            <a:ext cx="11068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Используется при построении сетей хранения данных (Storage Area Network) для объединения дисковых полок в единый пул высокой доступности.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781425"/>
            <a:ext cx="64258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Fibre Channel / iSCSI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057650"/>
            <a:ext cx="4991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Высокоскоростные протоколы передачи блочных данных между серверами и СХД.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781425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Отказоустойчивость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4057650"/>
            <a:ext cx="4991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Дисковые массивы RAID защищают данные от выхода из строя накопителей.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181" y="466725"/>
            <a:ext cx="855503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957512"/>
            <a:ext cx="5610225" cy="1543050"/>
          </a:xfrm>
          <a:prstGeom prst="roundRect">
            <a:avLst>
              <a:gd name="adj" fmla="val 98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33787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3633787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565" y="3633787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Кластеризация и суперкомпьютеры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42319"/>
            <a:ext cx="50768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Объединение вычислительных узлов в единую систему для распределенных вычислений (grid computing). Применяется для ресурсоемких задач моделирования и обработки больших массивов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27183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Архитектура кластеров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614737"/>
            <a:ext cx="1562100" cy="5715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Высокоскоростные сети InfiniBand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600" y="3614737"/>
            <a:ext cx="1864965" cy="5715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Многоядерные CPU (AMD EPYC, Intel Xeon)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3565" y="3614737"/>
            <a:ext cx="1649759" cy="5715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Ускорители вычислений (NVIDIA GPU)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167" y="0"/>
            <a:ext cx="5035126" cy="636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2272"/>
            <a:ext cx="10972800" cy="1276350"/>
          </a:xfrm>
          <a:prstGeom prst="roundRect">
            <a:avLst>
              <a:gd name="adj" fmla="val 59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702272"/>
            <a:ext cx="57150" cy="1276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Что такое гипервизор?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207222"/>
            <a:ext cx="110680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Гипервизор создает абстракцию нижележащей аппаратной платформы с аппаратной поддержкой в BIOS/UEFI (технологии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Intel VT-x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и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AMD-V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), позволяя гостевым ОС работать изолированно друг от друга.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930872"/>
            <a:ext cx="112966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Inter"/>
              </a:rPr>
              <a:t>Гипервизор (монитор виртуальных машин)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235672"/>
            <a:ext cx="10553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0369A1"/>
                </a:solidFill>
                <a:latin typeface="Inter"/>
              </a:rPr>
              <a:t>Программная технология поддержки исполнения виртуальных машин, распределяющая ресурсы физического CPU, RAM и диска.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8425"/>
            <a:ext cx="5372100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52725"/>
            <a:ext cx="5372100" cy="1952625"/>
          </a:xfrm>
          <a:prstGeom prst="roundRect">
            <a:avLst>
              <a:gd name="adj" fmla="val 78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81325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095625"/>
            <a:ext cx="342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Классификация гипервизоров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76625"/>
            <a:ext cx="62257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Гипервизоры 1-го типа (Bare-Metal)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19525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Устанавливаются напрямую на «железо» сервера вместо ОС. Максимальная производительность для промышленного применения (Production).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590925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Гипервизоры 2-го типа (Hosted)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933825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Работают поверх обычной ОС как программа. Применяются в учебных классах, на ПК разработчиков и для тестов.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2650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67075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81500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Гипервизоры 1-го типа (Native / Bare-Metal)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381250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Proxmox VE (KVM / QEMU)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57475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Популярная система виртуализации на базе Debian Linux, стандарт для открытых инфраструктур.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956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VMware ESXi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77190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Классический корпоративный гипервизор (исторический стандарт enterprise-сегмента).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610100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Microsoft Hyper-V Server &amp; Xen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886325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Промышленные серверные платформы виртуализации.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863" y="1000422"/>
            <a:ext cx="7965582" cy="5394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0812"/>
            <a:ext cx="109728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4287"/>
            <a:ext cx="109728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Гипервизоры 2-го типа (Hosted)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928937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Oracle VM VirtualBox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205162"/>
            <a:ext cx="11344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Основной инструмент для учебных стендов, локального тестирования и развертывания ВМ перед переходом на Zabbix.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062412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VMware Workstation Pro / 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338637"/>
            <a:ext cx="11344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Мощное десктопное решение для управления локальными виртуальными машинами.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194" y="217336"/>
            <a:ext cx="5941611" cy="582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3014662"/>
            <a:ext cx="5610225" cy="1428750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30823"/>
            <a:ext cx="4981575" cy="1009650"/>
          </a:xfrm>
          <a:prstGeom prst="roundRect">
            <a:avLst>
              <a:gd name="adj" fmla="val 1132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Виртуализация уровня ОС (Контейнеризация)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717452"/>
            <a:ext cx="5076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Контейнеризация использует единое ядро хостовой ОС, изолируя приложения с помощью пространств имен (Namespaces) и контрольных групп (cgroups).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32898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Пространства имен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671887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Разделение ресурсов ядра так, что один набор процессов видит свою изолированную среду (PID, net, mnt, ipc).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30848"/>
            <a:ext cx="60132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Основные инструменты: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178498"/>
            <a:ext cx="4676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Inter"/>
              </a:rPr>
              <a:t>Docker</a:t>
            </a:r>
            <a:r>
              <a:rPr sz="1125" b="0" i="0" u="none">
                <a:solidFill>
                  <a:srgbClr val="0369A1"/>
                </a:solidFill>
                <a:latin typeface="Inter"/>
              </a:rPr>
              <a:t> для упаковки микросервисов и </a:t>
            </a:r>
            <a:r>
              <a:rPr sz="1125" b="1" i="0" u="none">
                <a:solidFill>
                  <a:srgbClr val="0369A1"/>
                </a:solidFill>
                <a:latin typeface="Inter"/>
              </a:rPr>
              <a:t>Kubernetes</a:t>
            </a:r>
            <a:r>
              <a:rPr sz="1125" b="0" i="0" u="none">
                <a:solidFill>
                  <a:srgbClr val="0369A1"/>
                </a:solidFill>
                <a:latin typeface="Inter"/>
              </a:rPr>
              <a:t> для оркестрации контейнеров в кластере.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988" y="1088204"/>
            <a:ext cx="5797126" cy="4710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0362"/>
            <a:ext cx="53721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14662"/>
            <a:ext cx="5372100" cy="1428750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33737"/>
            <a:ext cx="17145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348037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37186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Виртуализация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сетевых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Inter"/>
              </a:rPr>
              <a:t>ресурсов</a:t>
            </a:r>
            <a:r>
              <a:rPr sz="2400" b="1" i="0" u="none" dirty="0">
                <a:solidFill>
                  <a:srgbClr val="0F172A"/>
                </a:solidFill>
                <a:latin typeface="Inter"/>
              </a:rPr>
              <a:t> (VPN и NAT)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214687"/>
            <a:ext cx="6225778" cy="2286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Виртуальные частные сети (VPN)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57587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Создание защищенных туннелей поверх недоверенного интернета для объединения удаленных сегментов инфраструктуры.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28987"/>
            <a:ext cx="5667375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Трансляция адресов (NAT)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671887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Преобразование локальных IP-адресов ВМ во внешние сетевые адреса для выхода в сеть и изоляции стенда.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809" y="976815"/>
            <a:ext cx="8449782" cy="4224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12790"/>
            <a:ext cx="10972800" cy="1209675"/>
          </a:xfrm>
          <a:prstGeom prst="roundRect">
            <a:avLst>
              <a:gd name="adj" fmla="val 944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Виртуализация сетевых функций (NFV)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35609"/>
            <a:ext cx="110680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NFV (Network Functions Virtualization)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расширяет концепцию виртуализации за пределы серверов на все типы сетевых устройств.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750915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Основная идея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4027140"/>
            <a:ext cx="1059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369A1"/>
                </a:solidFill>
                <a:latin typeface="Inter"/>
              </a:rPr>
              <a:t>Замена специализированных физических сетевых устройств (маршрутизаторов, межсетевых экранов) на программные сущности (VNF) на стандартном серверном оборудовании (COTS).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4181"/>
            <a:ext cx="3505200" cy="1509712"/>
          </a:xfrm>
          <a:prstGeom prst="roundRect">
            <a:avLst>
              <a:gd name="adj" fmla="val 10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74181"/>
            <a:ext cx="3505200" cy="1509712"/>
          </a:xfrm>
          <a:prstGeom prst="roundRect">
            <a:avLst>
              <a:gd name="adj" fmla="val 10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1337"/>
            <a:ext cx="3505200" cy="12954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Архитектура NFV и 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50406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NFVI (Инфраструктура)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64731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Виртуальные серверы, СХД и сетевые устройства поверх физического железа COTS.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9625" y="3250406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VNF (Сетевые функции)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64731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Программные маршрутизаторы, файрволы (Firewall) и балансировщики нагрузки.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3425" y="3357562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MANO (Управление)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718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Оркестрация и менеджмент виртуальной инфраструктуры и сетевых сервисов.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843212"/>
            <a:ext cx="5610225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30823"/>
            <a:ext cx="4981575" cy="1009650"/>
          </a:xfrm>
          <a:prstGeom prst="roundRect">
            <a:avLst>
              <a:gd name="adj" fmla="val 1132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519487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82428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129087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Подготовка к работе с ПО Zabbix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17452"/>
            <a:ext cx="5076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На последующих занятиях мы будем развертывать и настраивать систему мониторинга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Zabbix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. Для этого требуется первичная настройка виртуальной машины.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5753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Этапы подготовки ВМ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30848"/>
            <a:ext cx="60132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Inter"/>
              </a:rPr>
              <a:t>Цель лабораторной работы: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178498"/>
            <a:ext cx="4676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5803D"/>
                </a:solidFill>
                <a:latin typeface="Inter"/>
              </a:rPr>
              <a:t>Создание изолированной ВМ в гипервизоре (VirtualBox / KVM) для установки Linux и агентов мониторинга.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00437"/>
            <a:ext cx="59055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Выделение ресурсов (CPU, RAM, HDD)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3805237"/>
            <a:ext cx="59055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Настройка сетевого адаптера (Bridged/NAT)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110037"/>
            <a:ext cx="59055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Подключение ISO-образа ОС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5587"/>
            <a:ext cx="3505200" cy="186690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95587"/>
            <a:ext cx="3505200" cy="186690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14625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0038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3100387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01942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Распределение ресурсов ВМ для Zabbix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457" y="3595687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Процессор (vCPU)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731" y="3871912"/>
            <a:ext cx="3690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Inter"/>
              </a:rPr>
              <a:t>2–4 vCPU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31" y="422433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Для обработки триггеров и опроса метрик.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8257" y="3595687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Оперативная память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531" y="3871912"/>
            <a:ext cx="3690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Inter"/>
              </a:rPr>
              <a:t>4 GB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0531" y="4224337"/>
            <a:ext cx="3690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Оптимально для БД и веб-интерфейса.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2057" y="3514725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Дисковое пространство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4331" y="3790950"/>
            <a:ext cx="3690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Inter"/>
              </a:rPr>
              <a:t>40+ GB SSD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331" y="4143375"/>
            <a:ext cx="36909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Для хранения истории и трендов мониторинга.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1337"/>
            <a:ext cx="5372100" cy="12954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81337"/>
            <a:ext cx="5372100" cy="12954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Сетевые настройки виртуальной машины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357562"/>
            <a:ext cx="63257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NAT (Трансляция адресов)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671887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ВМ имеет доступ в интернет через хост, но недоступна из внешней сети напрямую. Подходит для скачивания пакетов.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3357562"/>
            <a:ext cx="5705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Bridged (Сетевой мост)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671887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ВМ получает собственный IP-адрес в локальной сети преподавателя/класса. Идеально для работы с Zabbix.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5562"/>
            <a:ext cx="109728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19537"/>
            <a:ext cx="109728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Виртуальные диски и контроллеры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833687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Форматы дисков (VDI, VMDK, QCOW2)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09912"/>
            <a:ext cx="10591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Динамически расширяемые диски экономят место на хосте, а фиксированные обеспечивают максимальную скорость ввода-вывода (I/O).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57662"/>
            <a:ext cx="11344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Контроллеры SATA / NVMe / SCSI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433887"/>
            <a:ext cx="11344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Выбор современного контроллера критичен для баз данных Zabbix из-за интенсивных операций записи.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995612"/>
            <a:ext cx="5610225" cy="1466850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30823"/>
            <a:ext cx="4981575" cy="1009650"/>
          </a:xfrm>
          <a:prstGeom prst="roundRect">
            <a:avLst>
              <a:gd name="adj" fmla="val 1132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71887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976687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Снимки (Snapshots) и резервное копирование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17452"/>
            <a:ext cx="50768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Перед проведением лабораторных работ по настройке Zabbix настоятельно рекомендуется сделать снимок (Snapshot) состояния виртуальной машины.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30993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Правила работы со снимками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30848"/>
            <a:ext cx="60132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Inter"/>
              </a:rPr>
              <a:t>Преимущество: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78498"/>
            <a:ext cx="4676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5803D"/>
                </a:solidFill>
                <a:latin typeface="Inter"/>
              </a:rPr>
              <a:t>Моментальный откат к чистой конфигурации при допущении ошибок в конфигурационных файлах.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652837"/>
            <a:ext cx="59055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Не хранить снимки слишком долго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957637"/>
            <a:ext cx="5905500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Объединять ветки перед бэкапом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5587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14762"/>
            <a:ext cx="109728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795587"/>
            <a:ext cx="38100" cy="8286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Информационная безопасность в средах ВМ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986087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Inter"/>
              </a:rPr>
              <a:t>Изоляция гостевых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43262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F1D1D"/>
                </a:solidFill>
                <a:latin typeface="Inter"/>
              </a:rPr>
              <a:t>Предотвращение несанкционированного доступа через уязвимости в сетевых протоколах или ПО соседних машин.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14787"/>
            <a:ext cx="11382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Защита гипервизора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271962"/>
            <a:ext cx="11382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Контроль доступа к панели управления Proxmox VE или ESXi, использование доверенных образов ОС.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4181"/>
            <a:ext cx="5372100" cy="1509712"/>
          </a:xfrm>
          <a:prstGeom prst="roundRect">
            <a:avLst>
              <a:gd name="adj" fmla="val 10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81337"/>
            <a:ext cx="5372100" cy="12954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Реалии 2026 года: Импортозамещение и облака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250406"/>
            <a:ext cx="63257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Российские платформы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64731"/>
            <a:ext cx="4914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Массовый переход корпоративного сектора на отечественные решения корпоративной виртуализации (ROS Linux, Брест, SpaceVM).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3357562"/>
            <a:ext cx="5705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Гибридные облака и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671887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Интеграция систем мониторинга (Zabbix) с облачной инфраструктурой и автоматический анализ аномалий.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3625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95775"/>
            <a:ext cx="1097280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333625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14700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295775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Итоги лекции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2412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Отказ от Bare Metal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8130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Современные серверы работают под управлением гипервизоров для эффективного использования ресурсов.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05200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Гибкость инфраструктуры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62375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Виртуальные машины и контейнеры обеспечивают изоляцию, масштабируемость и простоту бэкапов.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862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Готовность к Zabbix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743450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Настроенная ВМ станет надежным стендом для развертывания систем мониторинга на следующем занятии.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1304</Words>
  <Application>Microsoft Office PowerPoint</Application>
  <PresentationFormat>Произвольный</PresentationFormat>
  <Paragraphs>159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Тропин Даниил Александрович</cp:lastModifiedBy>
  <cp:revision>4</cp:revision>
  <dcterms:created xsi:type="dcterms:W3CDTF">2013-01-27T09:14:16Z</dcterms:created>
  <dcterms:modified xsi:type="dcterms:W3CDTF">2026-10-19T06:12:41Z</dcterms:modified>
  <cp:category/>
</cp:coreProperties>
</file>